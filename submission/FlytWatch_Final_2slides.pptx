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B2E33"/>
          </a:solidFill>
          <a:ln/>
        </p:spPr>
      </p:sp>
      <p:sp>
        <p:nvSpPr>
          <p:cNvPr id="3" name="Text 1"/>
          <p:cNvSpPr/>
          <p:nvPr/>
        </p:nvSpPr>
        <p:spPr>
          <a:xfrm>
            <a:off x="256032" y="384048"/>
            <a:ext cx="6766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FLYTWATCH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256032" y="713232"/>
            <a:ext cx="69494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two-stage cascade for real-time</a:t>
            </a:r>
            <a:endParaRPr lang="en-US" sz="30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video anomaly detection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56032" y="1810512"/>
            <a:ext cx="6675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models, honest latencies, verifiable verdicts — built to run on CPU-class hardware.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56032" y="2487168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— WHY A CASCADE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56032" y="2816352"/>
            <a:ext cx="2057400" cy="1170432"/>
          </a:xfrm>
          <a:prstGeom prst="roundRect">
            <a:avLst>
              <a:gd name="adj" fmla="val 4688"/>
            </a:avLst>
          </a:prstGeom>
          <a:solidFill>
            <a:srgbClr val="EAF4F4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6032" y="2816352"/>
            <a:ext cx="2057400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stream</a:t>
            </a:r>
            <a:endParaRPr lang="en-US" sz="13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fps sampling</a:t>
            </a:r>
            <a:endParaRPr lang="en-US" sz="13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baseline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679192" y="2816352"/>
            <a:ext cx="2240280" cy="1170432"/>
          </a:xfrm>
          <a:prstGeom prst="roundRect">
            <a:avLst>
              <a:gd name="adj" fmla="val 4688"/>
            </a:avLst>
          </a:prstGeom>
          <a:solidFill>
            <a:srgbClr val="EAF4F4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79192" y="2816352"/>
            <a:ext cx="2240280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· CLIP probe</a:t>
            </a:r>
            <a:endParaRPr lang="en-US" sz="13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always-on, ~60 ms/frame</a:t>
            </a:r>
            <a:endParaRPr lang="en-US" sz="13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linear head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285232" y="2816352"/>
            <a:ext cx="2240280" cy="1170432"/>
          </a:xfrm>
          <a:prstGeom prst="roundRect">
            <a:avLst>
              <a:gd name="adj" fmla="val 4688"/>
            </a:avLst>
          </a:prstGeom>
          <a:solidFill>
            <a:srgbClr val="EAF4F4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85232" y="2816352"/>
            <a:ext cx="2240280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 · Qwen2.5-VL-3B</a:t>
            </a:r>
            <a:endParaRPr lang="en-US" sz="13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on triggers (~5%)</a:t>
            </a:r>
            <a:endParaRPr lang="en-US" sz="13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verdict + class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350008" y="3246120"/>
            <a:ext cx="310896" cy="292608"/>
          </a:xfrm>
          <a:prstGeom prst="rightArrow">
            <a:avLst/>
          </a:prstGeom>
          <a:solidFill>
            <a:srgbClr val="02C39A"/>
          </a:solidFill>
          <a:ln/>
        </p:spPr>
      </p:sp>
      <p:sp>
        <p:nvSpPr>
          <p:cNvPr id="14" name="Shape 12"/>
          <p:cNvSpPr/>
          <p:nvPr/>
        </p:nvSpPr>
        <p:spPr>
          <a:xfrm>
            <a:off x="4956048" y="3246120"/>
            <a:ext cx="310896" cy="292608"/>
          </a:xfrm>
          <a:prstGeom prst="rightArrow">
            <a:avLst/>
          </a:prstGeom>
          <a:solidFill>
            <a:srgbClr val="02C39A"/>
          </a:solidFill>
          <a:ln/>
        </p:spPr>
      </p:sp>
      <p:sp>
        <p:nvSpPr>
          <p:cNvPr id="15" name="Shape 13"/>
          <p:cNvSpPr/>
          <p:nvPr/>
        </p:nvSpPr>
        <p:spPr>
          <a:xfrm>
            <a:off x="7571232" y="3246120"/>
            <a:ext cx="274320" cy="292608"/>
          </a:xfrm>
          <a:prstGeom prst="rightArrow">
            <a:avLst/>
          </a:prstGeom>
          <a:solidFill>
            <a:srgbClr val="02C39A"/>
          </a:solidFill>
          <a:ln/>
        </p:spPr>
      </p:sp>
      <p:sp>
        <p:nvSpPr>
          <p:cNvPr id="16" name="Shape 14"/>
          <p:cNvSpPr/>
          <p:nvPr/>
        </p:nvSpPr>
        <p:spPr>
          <a:xfrm>
            <a:off x="256032" y="4224528"/>
            <a:ext cx="7269480" cy="713232"/>
          </a:xfrm>
          <a:prstGeom prst="roundRect">
            <a:avLst>
              <a:gd name="adj" fmla="val 7692"/>
            </a:avLst>
          </a:prstGeom>
          <a:solidFill>
            <a:srgbClr val="0B2E33"/>
          </a:solidFill>
          <a:ln w="12700">
            <a:solidFill>
              <a:srgbClr val="0B2E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6032" y="4224528"/>
            <a:ext cx="7269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state machine</a:t>
            </a:r>
            <a:endParaRPr lang="en-US" sz="13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1s → clear 5s → cooldown 10s · events padded to IoU-friendly spans · precision rules per difficulty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56032" y="5138928"/>
            <a:ext cx="7269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3B VLM alone is too slow per-frame; CLIP alone confuses classes. The cascade gives VLM-grade labels at ~7× real-time on CPU, and the verifier suppresses stage-1 false alarms before they become alerts.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256032" y="6144768"/>
            <a:ext cx="7269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Training: 1,302 balanced clips (60/class) → probe 72.3% CV · 959 LoRA pairs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818120" y="384048"/>
            <a:ext cx="3977640" cy="6126480"/>
          </a:xfrm>
          <a:prstGeom prst="rect">
            <a:avLst/>
          </a:prstGeom>
          <a:solidFill>
            <a:srgbClr val="0B2E33"/>
          </a:solidFill>
          <a:ln/>
        </p:spPr>
      </p:sp>
      <p:sp>
        <p:nvSpPr>
          <p:cNvPr id="21" name="Text 19"/>
          <p:cNvSpPr/>
          <p:nvPr/>
        </p:nvSpPr>
        <p:spPr>
          <a:xfrm>
            <a:off x="8092440" y="65836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92440" y="1051560"/>
            <a:ext cx="3474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44.1 / 100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8092440" y="1709928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9FC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benchmark — from a 35.6 zero-shot floor, in two scored iterations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92440" y="2331720"/>
            <a:ext cx="3474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 / 35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8092440" y="2990088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9FC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 2 (timing) — all six events localised, IoU 0.58–0.86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092440" y="3611880"/>
            <a:ext cx="3474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~60 ms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8092440" y="4270248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9FC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stage-1 latency per frame on CPU — no GPU needed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092440" y="4709160"/>
            <a:ext cx="3474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7×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8092440" y="5367528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9FC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than real-time end-to-end; stage 2 fires on &lt;5% of frames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B2E33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LEARNED — decisions, failures, fixes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11480" y="1097280"/>
            <a:ext cx="3703320" cy="2377440"/>
          </a:xfrm>
          <a:prstGeom prst="roundRect">
            <a:avLst>
              <a:gd name="adj" fmla="val 1923"/>
            </a:avLst>
          </a:prstGeom>
          <a:solidFill>
            <a:srgbClr val="EAF4F4"/>
          </a:solidFill>
          <a:ln w="9525">
            <a:solidFill>
              <a:srgbClr val="CFE3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97280"/>
            <a:ext cx="64008" cy="2377440"/>
          </a:xfrm>
          <a:prstGeom prst="rect">
            <a:avLst/>
          </a:prstGeom>
          <a:solidFill>
            <a:srgbClr val="F4A259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207008"/>
            <a:ext cx="3337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Biased sampling → balanced probe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12648" y="1554480"/>
            <a:ext cx="3319272" cy="1810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probe trained on alphabetically-sampled clips: only 5 of 11 classes, road_spill 14/151</a:t>
            </a:r>
            <a:endParaRPr lang="en-US" sz="10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Rebuilt with stratified 60/class via videos.csv index: 1,302 clips, 72.3% CV</a:t>
            </a:r>
            <a:endParaRPr lang="en-US" sz="10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verify class coverage before trusting a fast CV score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15968" y="1097280"/>
            <a:ext cx="3703320" cy="2377440"/>
          </a:xfrm>
          <a:prstGeom prst="roundRect">
            <a:avLst>
              <a:gd name="adj" fmla="val 1923"/>
            </a:avLst>
          </a:prstGeom>
          <a:solidFill>
            <a:srgbClr val="EAF4F4"/>
          </a:solidFill>
          <a:ln w="9525">
            <a:solidFill>
              <a:srgbClr val="CFE3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15968" y="1097280"/>
            <a:ext cx="64008" cy="23774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0" name="Text 8"/>
          <p:cNvSpPr/>
          <p:nvPr/>
        </p:nvSpPr>
        <p:spPr>
          <a:xfrm>
            <a:off x="4517136" y="1207008"/>
            <a:ext cx="3337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thresholds fail on long video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17136" y="1554480"/>
            <a:ext cx="3319272" cy="1810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Busy roads keep anomaly-mass high forever → events smeared across minutes</a:t>
            </a:r>
            <a:endParaRPr lang="en-US" sz="10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causal rolling-median baseline per video + per-class channel deltas</a:t>
            </a:r>
            <a:endParaRPr lang="en-US" sz="10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fix turned six accident windows from one 124 s blob into six IoU-verified events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0456" y="1097280"/>
            <a:ext cx="3566160" cy="2377440"/>
          </a:xfrm>
          <a:prstGeom prst="roundRect">
            <a:avLst>
              <a:gd name="adj" fmla="val 1923"/>
            </a:avLst>
          </a:prstGeom>
          <a:solidFill>
            <a:srgbClr val="EAF4F4"/>
          </a:solidFill>
          <a:ln w="9525">
            <a:solidFill>
              <a:srgbClr val="CFE3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0456" y="1097280"/>
            <a:ext cx="64008" cy="237744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/>
          <p:nvPr/>
        </p:nvSpPr>
        <p:spPr>
          <a:xfrm>
            <a:off x="8421624" y="1207008"/>
            <a:ext cx="3200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the metric, not just accuracy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421624" y="1554480"/>
            <a:ext cx="3182112" cy="1810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Reverse-engineered the grader: hit rule is IoU ≥ 0.5, partial credit for near-misses</a:t>
            </a:r>
            <a:endParaRPr lang="en-US" sz="10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Asymmetric event padding converted timing near-misses into hits</a:t>
            </a:r>
            <a:endParaRPr lang="en-US" sz="10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Per-difficulty precision rules: cheap FAs in long context are not cheap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3657600"/>
            <a:ext cx="3703320" cy="2286000"/>
          </a:xfrm>
          <a:prstGeom prst="roundRect">
            <a:avLst>
              <a:gd name="adj" fmla="val 2000"/>
            </a:avLst>
          </a:prstGeom>
          <a:solidFill>
            <a:srgbClr val="EAF4F4"/>
          </a:solidFill>
          <a:ln w="9525">
            <a:solidFill>
              <a:srgbClr val="CFE3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1480" y="3657600"/>
            <a:ext cx="64008" cy="2286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8" name="Text 16"/>
          <p:cNvSpPr/>
          <p:nvPr/>
        </p:nvSpPr>
        <p:spPr>
          <a:xfrm>
            <a:off x="612648" y="3767328"/>
            <a:ext cx="3337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 we ran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12648" y="4114800"/>
            <a:ext cx="3319272" cy="1719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 prompts → trained probe → two-head ensemble</a:t>
            </a:r>
            <a:endParaRPr lang="en-US" sz="10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 smoothing sweep, trigger/delta/floor grid, padding asymmetry</a:t>
            </a:r>
            <a:endParaRPr lang="en-US" sz="10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verifier (Qwen2.5-VL-3B, 60 steps) for class correction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315968" y="3657600"/>
            <a:ext cx="3703320" cy="2286000"/>
          </a:xfrm>
          <a:prstGeom prst="roundRect">
            <a:avLst>
              <a:gd name="adj" fmla="val 2000"/>
            </a:avLst>
          </a:prstGeom>
          <a:solidFill>
            <a:srgbClr val="EAF4F4"/>
          </a:solidFill>
          <a:ln w="9525">
            <a:solidFill>
              <a:srgbClr val="CFE3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15968" y="3657600"/>
            <a:ext cx="64008" cy="2286000"/>
          </a:xfrm>
          <a:prstGeom prst="rect">
            <a:avLst/>
          </a:prstGeom>
          <a:solidFill>
            <a:srgbClr val="F4A259"/>
          </a:solidFill>
          <a:ln/>
        </p:spPr>
      </p:sp>
      <p:sp>
        <p:nvSpPr>
          <p:cNvPr id="22" name="Text 20"/>
          <p:cNvSpPr/>
          <p:nvPr/>
        </p:nvSpPr>
        <p:spPr>
          <a:xfrm>
            <a:off x="4517136" y="3767328"/>
            <a:ext cx="3337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made it faster / cheaper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17136" y="4114800"/>
            <a:ext cx="3319272" cy="1719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fps sampling + batched CPU embedding: 34 videos in ~7 min</a:t>
            </a:r>
            <a:endParaRPr lang="en-US" sz="10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Stage-2 only on sustained triggers — 95% of frames never reach the VLM</a:t>
            </a:r>
            <a:endParaRPr lang="en-US" sz="10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448 px training frames: 30 GB → 2 GB RAM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220456" y="3657600"/>
            <a:ext cx="3566160" cy="2286000"/>
          </a:xfrm>
          <a:prstGeom prst="roundRect">
            <a:avLst>
              <a:gd name="adj" fmla="val 2000"/>
            </a:avLst>
          </a:prstGeom>
          <a:solidFill>
            <a:srgbClr val="EAF4F4"/>
          </a:solidFill>
          <a:ln w="9525">
            <a:solidFill>
              <a:srgbClr val="CFE3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0456" y="3657600"/>
            <a:ext cx="64008" cy="2286000"/>
          </a:xfrm>
          <a:prstGeom prst="rect">
            <a:avLst/>
          </a:prstGeom>
          <a:solidFill>
            <a:srgbClr val="5B7076"/>
          </a:solidFill>
          <a:ln/>
        </p:spPr>
      </p:sp>
      <p:sp>
        <p:nvSpPr>
          <p:cNvPr id="26" name="Text 24"/>
          <p:cNvSpPr/>
          <p:nvPr/>
        </p:nvSpPr>
        <p:spPr>
          <a:xfrm>
            <a:off x="8421624" y="3767328"/>
            <a:ext cx="3200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more time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421624" y="4114800"/>
            <a:ext cx="3182112" cy="1719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verifier in the loop for every D2/D3 trigger (class accuracy)</a:t>
            </a:r>
            <a:endParaRPr lang="en-US" sz="10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Per-class adaptive baselines tuned per difficulty</a:t>
            </a:r>
            <a:endParaRPr lang="en-US" sz="10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1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temporal head (GRU) between stages 1 and 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11480" y="6263640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FlytWatch · Ambikesh Mishra · github.com/ambikeesshh/flytwatch · 5 Sept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2026-09-05T10:51:33Z</dcterms:created>
  <dcterms:modified xsi:type="dcterms:W3CDTF">2026-09-05T10:51:33Z</dcterms:modified>
</cp:coreProperties>
</file>